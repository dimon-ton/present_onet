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7556500" cy="10693400"/>
  <p:notesSz cx="6858000" cy="9144000"/>
  <p:embeddedFontLst>
    <p:embeddedFont>
      <p:font typeface="Anantason Condensed" panose="020B0604020202020204" charset="-34"/>
      <p:regular r:id="rId5"/>
    </p:embeddedFont>
    <p:embeddedFont>
      <p:font typeface="Anantason Condensed Bold" panose="020B0604020202020204" charset="-34"/>
      <p:regular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rdia New" panose="020B0304020202020204" pitchFamily="34" charset="-34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2162" autoAdjust="0"/>
  </p:normalViewPr>
  <p:slideViewPr>
    <p:cSldViewPr>
      <p:cViewPr>
        <p:scale>
          <a:sx n="100" d="100"/>
          <a:sy n="100" d="100"/>
        </p:scale>
        <p:origin x="76" y="-3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h-TH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th-TH" dirty="0">
                <a:latin typeface="Anantason Condensed" panose="020B0604020202020204" charset="-34"/>
                <a:cs typeface="Anantason Condensed" panose="020B0604020202020204" charset="-34"/>
              </a:rPr>
              <a:t>คะแนน</a:t>
            </a:r>
            <a:r>
              <a:rPr lang="th-TH" baseline="0" dirty="0">
                <a:latin typeface="Anantason Condensed" panose="020B0604020202020204" charset="-34"/>
                <a:cs typeface="Anantason Condensed" panose="020B0604020202020204" charset="-34"/>
              </a:rPr>
              <a:t>สอบ </a:t>
            </a:r>
            <a:r>
              <a:rPr lang="en-US" baseline="0" dirty="0">
                <a:latin typeface="Anantason Condensed" panose="020B0604020202020204" charset="-34"/>
                <a:cs typeface="Anantason Condensed" panose="020B0604020202020204" charset="-34"/>
              </a:rPr>
              <a:t>O-NET </a:t>
            </a:r>
            <a:r>
              <a:rPr lang="th-TH" baseline="0" dirty="0">
                <a:latin typeface="Anantason Condensed" panose="020B0604020202020204" charset="-34"/>
                <a:cs typeface="Anantason Condensed" panose="020B0604020202020204" charset="-34"/>
              </a:rPr>
              <a:t>ป.</a:t>
            </a:r>
            <a:r>
              <a:rPr lang="en-US" baseline="0" dirty="0">
                <a:latin typeface="Anantason Condensed" panose="020B0604020202020204" charset="-34"/>
                <a:cs typeface="Anantason Condensed" panose="020B0604020202020204" charset="-34"/>
              </a:rPr>
              <a:t>6 </a:t>
            </a:r>
            <a:r>
              <a:rPr lang="th-TH" baseline="0" dirty="0">
                <a:latin typeface="Anantason Condensed" panose="020B0604020202020204" charset="-34"/>
                <a:cs typeface="Anantason Condensed" panose="020B0604020202020204" charset="-34"/>
              </a:rPr>
              <a:t>ปีการศึกษา </a:t>
            </a:r>
            <a:r>
              <a:rPr lang="en-US" baseline="0" dirty="0">
                <a:latin typeface="Anantason Condensed" panose="020B0604020202020204" charset="-34"/>
                <a:cs typeface="Anantason Condensed" panose="020B0604020202020204" charset="-34"/>
              </a:rPr>
              <a:t>2566</a:t>
            </a:r>
            <a:endParaRPr lang="th-TH" dirty="0">
              <a:latin typeface="Anantason Condensed" panose="020B0604020202020204" charset="-34"/>
              <a:cs typeface="Anantason Condensed" panose="020B0604020202020204" charset="-34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th-TH"/>
        </a:p>
      </c:txPr>
    </c:title>
    <c:autoTitleDeleted val="0"/>
    <c:plotArea>
      <c:layout>
        <c:manualLayout>
          <c:layoutTarget val="inner"/>
          <c:xMode val="edge"/>
          <c:yMode val="edge"/>
          <c:x val="7.5347310637304238E-2"/>
          <c:y val="0.24348306385664892"/>
          <c:w val="0.92465268936269573"/>
          <c:h val="0.666133886676761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โรงเรียน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  <c:pt idx="0">
                  <c:v>70.650000000000006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04-4AF3-9D86-ED0F714FD4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เขตพื้นที่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  <c:pt idx="0">
                  <c:v>51.82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204-4AF3-9D86-ED0F714FD4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จังหวัด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Sheet1!$D$2</c:f>
              <c:numCache>
                <c:formatCode>General</c:formatCode>
                <c:ptCount val="1"/>
                <c:pt idx="0">
                  <c:v>53.16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204-4AF3-9D86-ED0F714FD4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สพฐ.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Sheet1!$E$2</c:f>
              <c:numCache>
                <c:formatCode>General</c:formatCode>
                <c:ptCount val="1"/>
                <c:pt idx="0">
                  <c:v>52.76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204-4AF3-9D86-ED0F714FD44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ประเทศ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Sheet1!$F$2</c:f>
              <c:numCache>
                <c:formatCode>General</c:formatCode>
                <c:ptCount val="1"/>
                <c:pt idx="0">
                  <c:v>54.2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204-4AF3-9D86-ED0F714FD4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0149695"/>
        <c:axId val="380468959"/>
      </c:barChart>
      <c:catAx>
        <c:axId val="470149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nantason Condensed" panose="020B0604020202020204" charset="-34"/>
                <a:ea typeface="+mn-ea"/>
                <a:cs typeface="Anantason Condensed" panose="020B0604020202020204" charset="-34"/>
              </a:defRPr>
            </a:pPr>
            <a:endParaRPr lang="th-TH"/>
          </a:p>
        </c:txPr>
        <c:crossAx val="380468959"/>
        <c:crosses val="autoZero"/>
        <c:auto val="1"/>
        <c:lblAlgn val="ctr"/>
        <c:lblOffset val="100"/>
        <c:noMultiLvlLbl val="0"/>
      </c:catAx>
      <c:valAx>
        <c:axId val="380468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nantason Condensed" panose="020B0604020202020204" charset="-34"/>
                <a:ea typeface="+mn-ea"/>
                <a:cs typeface="Anantason Condensed" panose="020B0604020202020204" charset="-34"/>
              </a:defRPr>
            </a:pPr>
            <a:endParaRPr lang="th-TH"/>
          </a:p>
        </c:txPr>
        <c:crossAx val="470149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63694744146771"/>
          <c:y val="0.88606637947412381"/>
          <c:w val="0.76840783181059791"/>
          <c:h val="0.113933620525876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nantason Condensed" panose="020B0604020202020204" charset="-34"/>
              <a:ea typeface="+mn-ea"/>
              <a:cs typeface="Anantason Condensed" panose="020B0604020202020204" charset="-34"/>
            </a:defRPr>
          </a:pPr>
          <a:endParaRPr lang="th-TH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th-T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52A4F-75D1-4712-807A-8F05DBE0CF3B}" type="datetimeFigureOut">
              <a:rPr lang="th-TH" smtClean="0"/>
              <a:t>25/11/68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B59A0-3532-4AC0-B0BF-38330FC5FA6F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45806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10">
            <a:extLst>
              <a:ext uri="{FF2B5EF4-FFF2-40B4-BE49-F238E27FC236}">
                <a16:creationId xmlns:a16="http://schemas.microsoft.com/office/drawing/2014/main" id="{67E86555-F956-47B2-B718-3ADEC373AD13}"/>
              </a:ext>
            </a:extLst>
          </p:cNvPr>
          <p:cNvGrpSpPr/>
          <p:nvPr/>
        </p:nvGrpSpPr>
        <p:grpSpPr>
          <a:xfrm>
            <a:off x="-107951" y="9165939"/>
            <a:ext cx="7666399" cy="1586878"/>
            <a:chOff x="-141865" y="0"/>
            <a:chExt cx="10221865" cy="2535772"/>
          </a:xfrm>
        </p:grpSpPr>
        <p:grpSp>
          <p:nvGrpSpPr>
            <p:cNvPr id="23" name="Group 11">
              <a:extLst>
                <a:ext uri="{FF2B5EF4-FFF2-40B4-BE49-F238E27FC236}">
                  <a16:creationId xmlns:a16="http://schemas.microsoft.com/office/drawing/2014/main" id="{576FE64D-E5FA-4C8E-B1D7-D0261707A72D}"/>
                </a:ext>
              </a:extLst>
            </p:cNvPr>
            <p:cNvGrpSpPr/>
            <p:nvPr/>
          </p:nvGrpSpPr>
          <p:grpSpPr>
            <a:xfrm>
              <a:off x="-141865" y="1809996"/>
              <a:ext cx="10221865" cy="725776"/>
              <a:chOff x="-38131" y="-28575"/>
              <a:chExt cx="2747464" cy="195076"/>
            </a:xfrm>
          </p:grpSpPr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261E86B2-336F-4E99-B018-B25FFA87B5C7}"/>
                  </a:ext>
                </a:extLst>
              </p:cNvPr>
              <p:cNvSpPr/>
              <p:nvPr/>
            </p:nvSpPr>
            <p:spPr>
              <a:xfrm>
                <a:off x="-38131" y="-5170"/>
                <a:ext cx="2709333" cy="166501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166501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166501"/>
                    </a:lnTo>
                    <a:lnTo>
                      <a:pt x="0" y="166501"/>
                    </a:lnTo>
                    <a:close/>
                  </a:path>
                </a:pathLst>
              </a:custGeom>
              <a:solidFill>
                <a:srgbClr val="FFC71F"/>
              </a:solidFill>
            </p:spPr>
          </p:sp>
          <p:sp>
            <p:nvSpPr>
              <p:cNvPr id="27" name="TextBox 13">
                <a:extLst>
                  <a:ext uri="{FF2B5EF4-FFF2-40B4-BE49-F238E27FC236}">
                    <a16:creationId xmlns:a16="http://schemas.microsoft.com/office/drawing/2014/main" id="{045C440B-7105-47B9-ACBF-52548220A797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709333" cy="1950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7C55117C-0169-4B70-8AAC-2BB1AF7EE379}"/>
                </a:ext>
              </a:extLst>
            </p:cNvPr>
            <p:cNvSpPr/>
            <p:nvPr/>
          </p:nvSpPr>
          <p:spPr>
            <a:xfrm rot="16200000" flipV="1">
              <a:off x="-437752" y="439821"/>
              <a:ext cx="1954905" cy="1075264"/>
            </a:xfrm>
            <a:custGeom>
              <a:avLst/>
              <a:gdLst/>
              <a:ahLst/>
              <a:cxnLst/>
              <a:rect l="l" t="t" r="r" b="b"/>
              <a:pathLst>
                <a:path w="1954905" h="2154165">
                  <a:moveTo>
                    <a:pt x="0" y="2154165"/>
                  </a:moveTo>
                  <a:lnTo>
                    <a:pt x="1954905" y="2154165"/>
                  </a:lnTo>
                  <a:lnTo>
                    <a:pt x="1954905" y="0"/>
                  </a:lnTo>
                  <a:lnTo>
                    <a:pt x="0" y="0"/>
                  </a:lnTo>
                  <a:lnTo>
                    <a:pt x="0" y="2154165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EB4EE224-45F9-42E0-990C-C3180A6681D9}"/>
              </a:ext>
            </a:extLst>
          </p:cNvPr>
          <p:cNvGrpSpPr/>
          <p:nvPr/>
        </p:nvGrpSpPr>
        <p:grpSpPr>
          <a:xfrm>
            <a:off x="0" y="0"/>
            <a:ext cx="7560000" cy="2041491"/>
            <a:chOff x="0" y="0"/>
            <a:chExt cx="2709333" cy="7316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1871620-4BF7-45AB-87AB-D9F7CB65749C}"/>
                </a:ext>
              </a:extLst>
            </p:cNvPr>
            <p:cNvSpPr/>
            <p:nvPr/>
          </p:nvSpPr>
          <p:spPr>
            <a:xfrm>
              <a:off x="0" y="0"/>
              <a:ext cx="2709333" cy="731624"/>
            </a:xfrm>
            <a:custGeom>
              <a:avLst/>
              <a:gdLst/>
              <a:ahLst/>
              <a:cxnLst/>
              <a:rect l="l" t="t" r="r" b="b"/>
              <a:pathLst>
                <a:path w="2709333" h="731624">
                  <a:moveTo>
                    <a:pt x="0" y="0"/>
                  </a:moveTo>
                  <a:lnTo>
                    <a:pt x="2709333" y="0"/>
                  </a:lnTo>
                  <a:lnTo>
                    <a:pt x="2709333" y="731624"/>
                  </a:lnTo>
                  <a:lnTo>
                    <a:pt x="0" y="731624"/>
                  </a:lnTo>
                  <a:close/>
                </a:path>
              </a:pathLst>
            </a:custGeom>
            <a:solidFill>
              <a:srgbClr val="FBEBA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C97AE2-94F9-433A-9426-26002ADE8AE3}"/>
                </a:ext>
              </a:extLst>
            </p:cNvPr>
            <p:cNvSpPr txBox="1"/>
            <p:nvPr/>
          </p:nvSpPr>
          <p:spPr>
            <a:xfrm>
              <a:off x="0" y="-28575"/>
              <a:ext cx="2709333" cy="760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D407E34-7DA2-45A0-ABF1-CD8D2C9D73F7}"/>
              </a:ext>
            </a:extLst>
          </p:cNvPr>
          <p:cNvSpPr/>
          <p:nvPr/>
        </p:nvSpPr>
        <p:spPr>
          <a:xfrm>
            <a:off x="350137" y="365302"/>
            <a:ext cx="1967916" cy="1310886"/>
          </a:xfrm>
          <a:custGeom>
            <a:avLst/>
            <a:gdLst/>
            <a:ahLst/>
            <a:cxnLst/>
            <a:rect l="l" t="t" r="r" b="b"/>
            <a:pathLst>
              <a:path w="1967916" h="1310886">
                <a:moveTo>
                  <a:pt x="0" y="0"/>
                </a:moveTo>
                <a:lnTo>
                  <a:pt x="1967916" y="0"/>
                </a:lnTo>
                <a:lnTo>
                  <a:pt x="1967916" y="1310886"/>
                </a:lnTo>
                <a:lnTo>
                  <a:pt x="0" y="13108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F45575E-CBE2-470B-9A8D-94A874865DFF}"/>
              </a:ext>
            </a:extLst>
          </p:cNvPr>
          <p:cNvGrpSpPr/>
          <p:nvPr/>
        </p:nvGrpSpPr>
        <p:grpSpPr>
          <a:xfrm>
            <a:off x="0" y="1885725"/>
            <a:ext cx="7560000" cy="365303"/>
            <a:chOff x="0" y="0"/>
            <a:chExt cx="2709333" cy="67869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DC30A41-3228-4C53-927E-2455A6D68D38}"/>
                </a:ext>
              </a:extLst>
            </p:cNvPr>
            <p:cNvSpPr/>
            <p:nvPr/>
          </p:nvSpPr>
          <p:spPr>
            <a:xfrm>
              <a:off x="0" y="0"/>
              <a:ext cx="2709333" cy="67869"/>
            </a:xfrm>
            <a:custGeom>
              <a:avLst/>
              <a:gdLst/>
              <a:ahLst/>
              <a:cxnLst/>
              <a:rect l="l" t="t" r="r" b="b"/>
              <a:pathLst>
                <a:path w="2709333" h="67869">
                  <a:moveTo>
                    <a:pt x="0" y="0"/>
                  </a:moveTo>
                  <a:lnTo>
                    <a:pt x="2709333" y="0"/>
                  </a:lnTo>
                  <a:lnTo>
                    <a:pt x="2709333" y="67869"/>
                  </a:lnTo>
                  <a:lnTo>
                    <a:pt x="0" y="67869"/>
                  </a:lnTo>
                  <a:close/>
                </a:path>
              </a:pathLst>
            </a:custGeom>
            <a:solidFill>
              <a:srgbClr val="FED966"/>
            </a:solidFill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8499560-3066-4D6C-947C-24BAE1D45FA0}"/>
                </a:ext>
              </a:extLst>
            </p:cNvPr>
            <p:cNvSpPr txBox="1"/>
            <p:nvPr/>
          </p:nvSpPr>
          <p:spPr>
            <a:xfrm>
              <a:off x="0" y="-28575"/>
              <a:ext cx="2709333" cy="9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5D669915-5BDC-43EB-9949-42689E367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781823"/>
              </p:ext>
            </p:extLst>
          </p:nvPr>
        </p:nvGraphicFramePr>
        <p:xfrm>
          <a:off x="362503" y="2406793"/>
          <a:ext cx="6844747" cy="1149663"/>
        </p:xfrm>
        <a:graphic>
          <a:graphicData uri="http://schemas.openxmlformats.org/drawingml/2006/table">
            <a:tbl>
              <a:tblPr/>
              <a:tblGrid>
                <a:gridCol w="1450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5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1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752">
                  <a:extLst>
                    <a:ext uri="{9D8B030D-6E8A-4147-A177-3AD203B41FA5}">
                      <a16:colId xmlns:a16="http://schemas.microsoft.com/office/drawing/2014/main" val="1996695328"/>
                    </a:ext>
                  </a:extLst>
                </a:gridCol>
                <a:gridCol w="1078810">
                  <a:extLst>
                    <a:ext uri="{9D8B030D-6E8A-4147-A177-3AD203B41FA5}">
                      <a16:colId xmlns:a16="http://schemas.microsoft.com/office/drawing/2014/main" val="421561273"/>
                    </a:ext>
                  </a:extLst>
                </a:gridCol>
              </a:tblGrid>
              <a:tr h="552769"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th-TH" sz="1400" dirty="0">
                          <a:solidFill>
                            <a:schemeClr val="bg1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วิชา</a:t>
                      </a:r>
                      <a:endParaRPr lang="en-US" sz="1400" dirty="0">
                        <a:solidFill>
                          <a:schemeClr val="bg1"/>
                        </a:solidFill>
                        <a:latin typeface="Anantason Condensed" panose="020B0604020202020204" charset="-34"/>
                        <a:cs typeface="Anantason Condensed" panose="020B0604020202020204" charset="-34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ระดับโรงเรียน</a:t>
                      </a:r>
                      <a:endParaRPr lang="en-US" sz="1400" dirty="0">
                        <a:solidFill>
                          <a:schemeClr val="bg1"/>
                        </a:solidFill>
                        <a:latin typeface="Anantason Condensed" panose="020B0604020202020204" charset="-34"/>
                        <a:cs typeface="Anantason Condensed" panose="020B0604020202020204" charset="-34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ระดับเขตพื้นที่</a:t>
                      </a:r>
                      <a:endParaRPr lang="en-US" sz="1400" dirty="0">
                        <a:solidFill>
                          <a:schemeClr val="bg1"/>
                        </a:solidFill>
                        <a:latin typeface="Anantason Condensed" panose="020B0604020202020204" charset="-34"/>
                        <a:cs typeface="Anantason Condensed" panose="020B0604020202020204" charset="-34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th-TH" sz="1400" dirty="0">
                          <a:solidFill>
                            <a:schemeClr val="bg1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ระดับจังหวัด</a:t>
                      </a: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th-TH" sz="1400" b="1" dirty="0">
                          <a:solidFill>
                            <a:schemeClr val="bg1"/>
                          </a:solidFill>
                          <a:effectLst/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ระดับ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 </a:t>
                      </a:r>
                      <a:r>
                        <a:rPr lang="th-TH" sz="1400" b="1" dirty="0" err="1">
                          <a:solidFill>
                            <a:schemeClr val="bg1"/>
                          </a:solidFill>
                          <a:effectLst/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สพฐ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.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Anantason Condensed" panose="020B0604020202020204" charset="-34"/>
                        <a:ea typeface="Calibri" panose="020F0502020204030204" pitchFamily="34" charset="0"/>
                        <a:cs typeface="Anantason Condensed" panose="020B0604020202020204" charset="-34"/>
                      </a:endParaRPr>
                    </a:p>
                  </a:txBody>
                  <a:tcPr marL="98787" marR="98787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ระดับประเทศ</a:t>
                      </a:r>
                      <a:endParaRPr lang="en-US" sz="1400" dirty="0">
                        <a:solidFill>
                          <a:schemeClr val="bg1"/>
                        </a:solidFill>
                        <a:latin typeface="Anantason Condensed" panose="020B0604020202020204" charset="-34"/>
                        <a:cs typeface="Anantason Condensed" panose="020B0604020202020204" charset="-34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863">
                <a:tc>
                  <a:txBody>
                    <a:bodyPr/>
                    <a:lstStyle/>
                    <a:p>
                      <a:pPr algn="l">
                        <a:lnSpc>
                          <a:spcPts val="1776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1.ภาษาไทย</a:t>
                      </a:r>
                      <a:endParaRPr lang="en-US" sz="1200" b="0" dirty="0">
                        <a:latin typeface="Anantason Condensed" panose="020B0604020202020204" charset="-34"/>
                        <a:cs typeface="Anantason Condensed" panose="020B0604020202020204" charset="-34"/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70.65</a:t>
                      </a: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51.82</a:t>
                      </a: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53.16</a:t>
                      </a: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  <a:effectLst/>
                          <a:latin typeface="Anantason Condensed" panose="020B0604020202020204" charset="-34"/>
                          <a:ea typeface="Times New Roman" panose="02020603050405020304" pitchFamily="18" charset="0"/>
                          <a:cs typeface="Anantason Condensed" panose="020B0604020202020204" charset="-34"/>
                        </a:rPr>
                        <a:t>52.76</a:t>
                      </a:r>
                      <a:endParaRPr lang="en-US" sz="1200" b="0" dirty="0">
                        <a:solidFill>
                          <a:srgbClr val="FF0000"/>
                        </a:solidFill>
                        <a:effectLst/>
                        <a:latin typeface="Anantason Condensed" panose="020B0604020202020204" charset="-34"/>
                        <a:ea typeface="Calibri" panose="020F0502020204030204" pitchFamily="34" charset="0"/>
                        <a:cs typeface="Anantason Condensed" panose="020B0604020202020204" charset="-34"/>
                      </a:endParaRPr>
                    </a:p>
                  </a:txBody>
                  <a:tcPr marL="55721" marR="55721" marT="0" marB="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76"/>
                        </a:lnSpc>
                        <a:defRPr/>
                      </a:pPr>
                      <a:r>
                        <a:rPr lang="en-US" sz="1200" b="0" dirty="0">
                          <a:solidFill>
                            <a:srgbClr val="FF0000"/>
                          </a:solidFill>
                          <a:latin typeface="Anantason Condensed" panose="020B0604020202020204" charset="-34"/>
                          <a:cs typeface="Anantason Condensed" panose="020B0604020202020204" charset="-34"/>
                        </a:rPr>
                        <a:t>54.20</a:t>
                      </a: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21">
            <a:extLst>
              <a:ext uri="{FF2B5EF4-FFF2-40B4-BE49-F238E27FC236}">
                <a16:creationId xmlns:a16="http://schemas.microsoft.com/office/drawing/2014/main" id="{4A2799AC-D169-4589-9EF3-3181D96789AC}"/>
              </a:ext>
            </a:extLst>
          </p:cNvPr>
          <p:cNvSpPr txBox="1"/>
          <p:nvPr/>
        </p:nvSpPr>
        <p:spPr>
          <a:xfrm>
            <a:off x="2318053" y="530132"/>
            <a:ext cx="5079207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16"/>
              </a:lnSpc>
            </a:pPr>
            <a:r>
              <a:rPr lang="en-US" sz="18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ผลการสอบทางการศึกษาระดับขั้นพื้นฐาน</a:t>
            </a:r>
            <a:r>
              <a:rPr lang="en-US" sz="18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(O-NET)</a:t>
            </a:r>
          </a:p>
          <a:p>
            <a:pPr>
              <a:lnSpc>
                <a:spcPts val="2616"/>
              </a:lnSpc>
            </a:pPr>
            <a:r>
              <a:rPr lang="en-US" sz="1869" b="1" dirty="0" err="1">
                <a:solidFill>
                  <a:srgbClr val="000000"/>
                </a:solidFill>
                <a:latin typeface="Anantason Condensed"/>
                <a:cs typeface="Anantason Condensed"/>
              </a:rPr>
              <a:t>ชั้นประถมศึกษาปีที่</a:t>
            </a:r>
            <a:r>
              <a:rPr lang="en-US" sz="1869" b="1" dirty="0">
                <a:solidFill>
                  <a:srgbClr val="000000"/>
                </a:solidFill>
                <a:latin typeface="Anantason Condensed"/>
                <a:cs typeface="Anantason Condensed"/>
              </a:rPr>
              <a:t> 6 </a:t>
            </a:r>
          </a:p>
          <a:p>
            <a:pPr>
              <a:lnSpc>
                <a:spcPts val="2616"/>
              </a:lnSpc>
            </a:pPr>
            <a:r>
              <a:rPr lang="en-US" sz="1869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โรงเรียน</a:t>
            </a:r>
            <a:r>
              <a:rPr lang="th-TH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บ้านโพนแท่น </a:t>
            </a:r>
          </a:p>
          <a:p>
            <a:pPr>
              <a:lnSpc>
                <a:spcPts val="2616"/>
              </a:lnSpc>
            </a:pPr>
            <a:r>
              <a:rPr lang="th-TH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สำนักงานเขตพื้นที่การศึกษาประถมศึกษาร้อยเอ็ด เขต </a:t>
            </a:r>
            <a:r>
              <a:rPr lang="en-US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2 </a:t>
            </a:r>
            <a:r>
              <a:rPr lang="en-US" sz="1869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ปีการศึกษา</a:t>
            </a:r>
            <a:r>
              <a:rPr lang="en-US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 2567</a:t>
            </a:r>
          </a:p>
        </p:txBody>
      </p:sp>
      <p:graphicFrame>
        <p:nvGraphicFramePr>
          <p:cNvPr id="21" name="แผนภูมิ 20">
            <a:extLst>
              <a:ext uri="{FF2B5EF4-FFF2-40B4-BE49-F238E27FC236}">
                <a16:creationId xmlns:a16="http://schemas.microsoft.com/office/drawing/2014/main" id="{6085919C-0102-4F6E-BD99-C6CFE3701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777350"/>
              </p:ext>
            </p:extLst>
          </p:nvPr>
        </p:nvGraphicFramePr>
        <p:xfrm>
          <a:off x="346461" y="3725465"/>
          <a:ext cx="6860789" cy="4600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Box 14">
            <a:extLst>
              <a:ext uri="{FF2B5EF4-FFF2-40B4-BE49-F238E27FC236}">
                <a16:creationId xmlns:a16="http://schemas.microsoft.com/office/drawing/2014/main" id="{76AD972A-BA46-4FEE-A9B5-C1E1DCC98F6D}"/>
              </a:ext>
            </a:extLst>
          </p:cNvPr>
          <p:cNvSpPr txBox="1"/>
          <p:nvPr/>
        </p:nvSpPr>
        <p:spPr>
          <a:xfrm>
            <a:off x="472808" y="10394986"/>
            <a:ext cx="6608093" cy="303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1400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โรงเรียน</a:t>
            </a:r>
            <a:r>
              <a:rPr lang="th-TH" sz="1400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บ้านโพนแท่น สำนักงานเขตพื้นที่การศึกษาประถมศึกษาร้อยเอ็ด เขต </a:t>
            </a:r>
            <a:r>
              <a:rPr lang="en-US" sz="1400" b="1" dirty="0">
                <a:solidFill>
                  <a:srgbClr val="C00000"/>
                </a:solidFill>
                <a:latin typeface="Anantason Condensed"/>
                <a:cs typeface="Anantason Condensed"/>
              </a:rPr>
              <a:t>2 </a:t>
            </a:r>
            <a:r>
              <a:rPr lang="th-TH" sz="1400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ปี</a:t>
            </a:r>
            <a:r>
              <a:rPr lang="en-US" sz="1400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การศึกษา</a:t>
            </a:r>
            <a:r>
              <a:rPr lang="en-US" sz="1400" b="1" dirty="0">
                <a:solidFill>
                  <a:srgbClr val="C00000"/>
                </a:solidFill>
                <a:latin typeface="Anantason Condensed"/>
                <a:cs typeface="Anantason Condensed"/>
              </a:rPr>
              <a:t> 2567</a:t>
            </a:r>
          </a:p>
        </p:txBody>
      </p:sp>
    </p:spTree>
    <p:extLst>
      <p:ext uri="{BB962C8B-B14F-4D97-AF65-F5344CB8AC3E}">
        <p14:creationId xmlns:p14="http://schemas.microsoft.com/office/powerpoint/2010/main" val="198536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52" y="-94689"/>
            <a:ext cx="7560000" cy="2041491"/>
            <a:chOff x="0" y="0"/>
            <a:chExt cx="2709333" cy="7316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731624"/>
            </a:xfrm>
            <a:custGeom>
              <a:avLst/>
              <a:gdLst/>
              <a:ahLst/>
              <a:cxnLst/>
              <a:rect l="l" t="t" r="r" b="b"/>
              <a:pathLst>
                <a:path w="2709333" h="731624">
                  <a:moveTo>
                    <a:pt x="0" y="0"/>
                  </a:moveTo>
                  <a:lnTo>
                    <a:pt x="2709333" y="0"/>
                  </a:lnTo>
                  <a:lnTo>
                    <a:pt x="2709333" y="731624"/>
                  </a:lnTo>
                  <a:lnTo>
                    <a:pt x="0" y="731624"/>
                  </a:lnTo>
                  <a:close/>
                </a:path>
              </a:pathLst>
            </a:custGeom>
            <a:solidFill>
              <a:srgbClr val="FBEBA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709333" cy="760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50137" y="365302"/>
            <a:ext cx="1967916" cy="1310886"/>
          </a:xfrm>
          <a:custGeom>
            <a:avLst/>
            <a:gdLst/>
            <a:ahLst/>
            <a:cxnLst/>
            <a:rect l="l" t="t" r="r" b="b"/>
            <a:pathLst>
              <a:path w="1967916" h="1310886">
                <a:moveTo>
                  <a:pt x="0" y="0"/>
                </a:moveTo>
                <a:lnTo>
                  <a:pt x="1967916" y="0"/>
                </a:lnTo>
                <a:lnTo>
                  <a:pt x="1967916" y="1310886"/>
                </a:lnTo>
                <a:lnTo>
                  <a:pt x="0" y="1310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1852113"/>
            <a:ext cx="7560000" cy="189378"/>
            <a:chOff x="0" y="0"/>
            <a:chExt cx="2709333" cy="678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3" cy="67869"/>
            </a:xfrm>
            <a:custGeom>
              <a:avLst/>
              <a:gdLst/>
              <a:ahLst/>
              <a:cxnLst/>
              <a:rect l="l" t="t" r="r" b="b"/>
              <a:pathLst>
                <a:path w="2709333" h="67869">
                  <a:moveTo>
                    <a:pt x="0" y="0"/>
                  </a:moveTo>
                  <a:lnTo>
                    <a:pt x="2709333" y="0"/>
                  </a:lnTo>
                  <a:lnTo>
                    <a:pt x="2709333" y="67869"/>
                  </a:lnTo>
                  <a:lnTo>
                    <a:pt x="0" y="67869"/>
                  </a:lnTo>
                  <a:close/>
                </a:path>
              </a:pathLst>
            </a:custGeom>
            <a:solidFill>
              <a:srgbClr val="FED96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2709333" cy="9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108718"/>
              </p:ext>
            </p:extLst>
          </p:nvPr>
        </p:nvGraphicFramePr>
        <p:xfrm>
          <a:off x="350137" y="2428881"/>
          <a:ext cx="6793208" cy="2068048"/>
        </p:xfrm>
        <a:graphic>
          <a:graphicData uri="http://schemas.openxmlformats.org/drawingml/2006/table">
            <a:tbl>
              <a:tblPr/>
              <a:tblGrid>
                <a:gridCol w="122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28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5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5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08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08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8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26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45230">
                <a:tc rowSpan="2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สาระการเรียนรู้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 err="1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ระดับโรงเรียน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ระดับโรงเรียน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ระดับโรงเรียน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ระดับเขตพื้นที่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4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ระดับเขตพื้นที่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4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ระดับเขตพื้นที่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04E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ระดับประเทศ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ระดับประเทศ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99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ระดับประเทศ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0356">
                <a:tc vMerge="1"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FFFFFF"/>
                          </a:solidFill>
                          <a:cs typeface="Anantason Condensed Bold"/>
                        </a:rPr>
                        <a:t>สาระการเรียนรู้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1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2567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2566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2565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2567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2566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2565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2567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2566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dirty="0">
                          <a:solidFill>
                            <a:srgbClr val="000000"/>
                          </a:solidFill>
                          <a:latin typeface="Anantason Condensed Bold"/>
                        </a:rPr>
                        <a:t>2565</a:t>
                      </a:r>
                      <a:endParaRPr lang="en-US" sz="1100" dirty="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462">
                <a:tc>
                  <a:txBody>
                    <a:bodyPr/>
                    <a:lstStyle/>
                    <a:p>
                      <a:pPr algn="l">
                        <a:lnSpc>
                          <a:spcPts val="1496"/>
                        </a:lnSpc>
                        <a:defRPr/>
                      </a:pPr>
                      <a:r>
                        <a:rPr lang="en-US" sz="1069">
                          <a:solidFill>
                            <a:srgbClr val="000000"/>
                          </a:solidFill>
                          <a:latin typeface="Anantason Condensed"/>
                          <a:cs typeface="Anantason Condensed"/>
                        </a:rPr>
                        <a:t>1.ภาษาไทย</a:t>
                      </a:r>
                      <a:endParaRPr lang="en-US" sz="1100"/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 70.65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59.09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57.66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51.03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54.52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50.94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54.20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57.30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96"/>
                        </a:lnSpc>
                        <a:defRPr/>
                      </a:pPr>
                      <a:r>
                        <a:rPr lang="en-US" sz="1069" b="1" dirty="0">
                          <a:solidFill>
                            <a:schemeClr val="tx1"/>
                          </a:solidFill>
                          <a:latin typeface="Anantason Condensed"/>
                        </a:rPr>
                        <a:t>53.89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14300" marR="114300" marT="114300" marB="1143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-1552" y="8850989"/>
            <a:ext cx="7560000" cy="1901828"/>
            <a:chOff x="0" y="0"/>
            <a:chExt cx="10080000" cy="2535772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1916309"/>
              <a:ext cx="10080000" cy="619463"/>
              <a:chOff x="0" y="0"/>
              <a:chExt cx="2709333" cy="16650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709333" cy="166501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166501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166501"/>
                    </a:lnTo>
                    <a:lnTo>
                      <a:pt x="0" y="166501"/>
                    </a:lnTo>
                    <a:close/>
                  </a:path>
                </a:pathLst>
              </a:custGeom>
              <a:solidFill>
                <a:srgbClr val="FFC71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2709333" cy="19507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426585" y="2074668"/>
              <a:ext cx="8810790" cy="4052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6"/>
                </a:lnSpc>
              </a:pPr>
              <a:r>
                <a:rPr lang="en-US" sz="1400" b="1" dirty="0" err="1">
                  <a:solidFill>
                    <a:srgbClr val="C00000"/>
                  </a:solidFill>
                  <a:latin typeface="Anantason Condensed"/>
                  <a:cs typeface="Anantason Condensed"/>
                </a:rPr>
                <a:t>โรงเรียน</a:t>
              </a:r>
              <a:r>
                <a:rPr lang="th-TH" sz="1400" b="1" dirty="0">
                  <a:solidFill>
                    <a:srgbClr val="C00000"/>
                  </a:solidFill>
                  <a:latin typeface="Anantason Condensed"/>
                  <a:cs typeface="Anantason Condensed"/>
                </a:rPr>
                <a:t>บ้านโพนแท่น สำนักงานเขตพื้นที่การศึกษาประถมศึกษาร้อยเอ็ด เขต </a:t>
              </a:r>
              <a:r>
                <a:rPr lang="en-US" sz="1400" b="1" dirty="0">
                  <a:solidFill>
                    <a:srgbClr val="C00000"/>
                  </a:solidFill>
                  <a:latin typeface="Anantason Condensed"/>
                  <a:cs typeface="Anantason Condensed"/>
                </a:rPr>
                <a:t>2 </a:t>
              </a:r>
              <a:r>
                <a:rPr lang="th-TH" sz="1400" b="1" dirty="0">
                  <a:solidFill>
                    <a:srgbClr val="C00000"/>
                  </a:solidFill>
                  <a:latin typeface="Anantason Condensed"/>
                  <a:cs typeface="Anantason Condensed"/>
                </a:rPr>
                <a:t>ปี</a:t>
              </a:r>
              <a:r>
                <a:rPr lang="en-US" sz="1400" b="1" dirty="0" err="1">
                  <a:solidFill>
                    <a:srgbClr val="C00000"/>
                  </a:solidFill>
                  <a:latin typeface="Anantason Condensed"/>
                  <a:cs typeface="Anantason Condensed"/>
                </a:rPr>
                <a:t>การศึกษา</a:t>
              </a:r>
              <a:r>
                <a:rPr lang="en-US" sz="1400" b="1" dirty="0">
                  <a:solidFill>
                    <a:srgbClr val="C00000"/>
                  </a:solidFill>
                  <a:latin typeface="Anantason Condensed"/>
                  <a:cs typeface="Anantason Condensed"/>
                </a:rPr>
                <a:t> 2567</a:t>
              </a:r>
            </a:p>
          </p:txBody>
        </p:sp>
        <p:sp>
          <p:nvSpPr>
            <p:cNvPr id="15" name="Freeform 15"/>
            <p:cNvSpPr/>
            <p:nvPr/>
          </p:nvSpPr>
          <p:spPr>
            <a:xfrm rot="-5400000" flipV="1">
              <a:off x="101700" y="-99630"/>
              <a:ext cx="1954905" cy="2154165"/>
            </a:xfrm>
            <a:custGeom>
              <a:avLst/>
              <a:gdLst/>
              <a:ahLst/>
              <a:cxnLst/>
              <a:rect l="l" t="t" r="r" b="b"/>
              <a:pathLst>
                <a:path w="1954905" h="2154165">
                  <a:moveTo>
                    <a:pt x="0" y="2154165"/>
                  </a:moveTo>
                  <a:lnTo>
                    <a:pt x="1954905" y="2154165"/>
                  </a:lnTo>
                  <a:lnTo>
                    <a:pt x="1954905" y="0"/>
                  </a:lnTo>
                  <a:lnTo>
                    <a:pt x="0" y="0"/>
                  </a:lnTo>
                  <a:lnTo>
                    <a:pt x="0" y="2154165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15624" y="6308843"/>
            <a:ext cx="4563278" cy="1110196"/>
            <a:chOff x="0" y="0"/>
            <a:chExt cx="1635376" cy="3978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35376" cy="397869"/>
            </a:xfrm>
            <a:custGeom>
              <a:avLst/>
              <a:gdLst/>
              <a:ahLst/>
              <a:cxnLst/>
              <a:rect l="l" t="t" r="r" b="b"/>
              <a:pathLst>
                <a:path w="1635376" h="397869">
                  <a:moveTo>
                    <a:pt x="0" y="0"/>
                  </a:moveTo>
                  <a:lnTo>
                    <a:pt x="1635376" y="0"/>
                  </a:lnTo>
                  <a:lnTo>
                    <a:pt x="1635376" y="397869"/>
                  </a:lnTo>
                  <a:lnTo>
                    <a:pt x="0" y="397869"/>
                  </a:lnTo>
                  <a:close/>
                </a:path>
              </a:pathLst>
            </a:custGeom>
            <a:solidFill>
              <a:srgbClr val="FED966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35376" cy="426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807991" y="6500343"/>
            <a:ext cx="437091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37"/>
              </a:lnSpc>
            </a:pPr>
            <a:r>
              <a:rPr lang="en-US" sz="1169" dirty="0" err="1">
                <a:solidFill>
                  <a:srgbClr val="000000"/>
                </a:solidFill>
                <a:cs typeface="Anantason Condensed"/>
              </a:rPr>
              <a:t>เ</a:t>
            </a:r>
            <a:r>
              <a:rPr lang="en-US" sz="11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ฉลี่ยรวม</a:t>
            </a:r>
            <a:r>
              <a:rPr lang="th-TH" sz="11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วิชาภาษาไทย</a:t>
            </a:r>
            <a:r>
              <a:rPr lang="en-US" sz="11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</a:t>
            </a:r>
          </a:p>
          <a:p>
            <a:pPr>
              <a:lnSpc>
                <a:spcPts val="1637"/>
              </a:lnSpc>
            </a:pPr>
            <a:r>
              <a:rPr lang="en-US" sz="1169" dirty="0">
                <a:solidFill>
                  <a:srgbClr val="000000"/>
                </a:solidFill>
                <a:latin typeface="Anantason Condensed"/>
                <a:cs typeface="Anantason Condensed"/>
              </a:rPr>
              <a:t>    </a:t>
            </a:r>
            <a:r>
              <a:rPr lang="en-US" sz="1169" b="1" dirty="0" err="1">
                <a:solidFill>
                  <a:srgbClr val="000000"/>
                </a:solidFill>
                <a:latin typeface="Anantason Condensed"/>
                <a:cs typeface="Anantason Condensed"/>
              </a:rPr>
              <a:t>ปีการศึกษา</a:t>
            </a:r>
            <a:r>
              <a:rPr lang="en-US" sz="1169" b="1" dirty="0">
                <a:solidFill>
                  <a:srgbClr val="000000"/>
                </a:solidFill>
                <a:latin typeface="Anantason Condensed"/>
                <a:cs typeface="Anantason Condensed"/>
              </a:rPr>
              <a:t> 2567  =</a:t>
            </a:r>
            <a:r>
              <a:rPr lang="en-US" sz="1200" b="1" dirty="0">
                <a:solidFill>
                  <a:srgbClr val="FF0000"/>
                </a:solidFill>
                <a:latin typeface="Anantason Condensed"/>
              </a:rPr>
              <a:t>70.65</a:t>
            </a:r>
            <a:r>
              <a:rPr lang="en-US" sz="1169" b="1" dirty="0">
                <a:solidFill>
                  <a:srgbClr val="000000"/>
                </a:solidFill>
                <a:latin typeface="Anantason Condensed"/>
                <a:cs typeface="Anantason Condensed"/>
              </a:rPr>
              <a:t>    </a:t>
            </a:r>
            <a:r>
              <a:rPr lang="en-US" sz="1169" b="1" dirty="0" err="1">
                <a:solidFill>
                  <a:srgbClr val="000000"/>
                </a:solidFill>
                <a:latin typeface="Anantason Condensed"/>
                <a:cs typeface="Anantason Condensed"/>
              </a:rPr>
              <a:t>เพิ่มขึ้นจากปีการศึกษา</a:t>
            </a:r>
            <a:r>
              <a:rPr lang="en-US" sz="1169" b="1" dirty="0">
                <a:solidFill>
                  <a:srgbClr val="000000"/>
                </a:solidFill>
                <a:latin typeface="Anantason Condensed"/>
                <a:cs typeface="Anantason Condensed"/>
              </a:rPr>
              <a:t> 2566 + 12.99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68145" y="437387"/>
            <a:ext cx="5181600" cy="1667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16"/>
              </a:lnSpc>
            </a:pPr>
            <a:r>
              <a:rPr lang="en-US" sz="1869" dirty="0" err="1">
                <a:solidFill>
                  <a:srgbClr val="000000"/>
                </a:solidFill>
                <a:latin typeface="Anantason Condensed"/>
                <a:cs typeface="Anantason Condensed"/>
              </a:rPr>
              <a:t>แนวโน้ม</a:t>
            </a:r>
            <a:r>
              <a:rPr lang="en-US" sz="1869" dirty="0">
                <a:solidFill>
                  <a:srgbClr val="000000"/>
                </a:solidFill>
                <a:latin typeface="Anantason Condensed"/>
                <a:cs typeface="Anantason Condensed"/>
              </a:rPr>
              <a:t> </a:t>
            </a:r>
            <a:r>
              <a:rPr lang="en-US" sz="1869" dirty="0" err="1">
                <a:solidFill>
                  <a:srgbClr val="000000"/>
                </a:solidFill>
                <a:latin typeface="Anantason Condensed"/>
                <a:cs typeface="Anantason Condensed"/>
              </a:rPr>
              <a:t>ปีการศึกษา</a:t>
            </a:r>
            <a:r>
              <a:rPr lang="en-US" sz="1869" dirty="0">
                <a:solidFill>
                  <a:srgbClr val="000000"/>
                </a:solidFill>
                <a:latin typeface="Anantason Condensed"/>
                <a:cs typeface="Anantason Condensed"/>
              </a:rPr>
              <a:t> 2565-2567</a:t>
            </a:r>
          </a:p>
          <a:p>
            <a:pPr>
              <a:lnSpc>
                <a:spcPts val="2616"/>
              </a:lnSpc>
            </a:pPr>
            <a:r>
              <a:rPr lang="en-US" sz="18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ผลการสอบทางการศึกษาระดับขั้นพื้นฐาน</a:t>
            </a:r>
            <a:r>
              <a:rPr lang="en-US" sz="18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(O-NET)</a:t>
            </a:r>
          </a:p>
          <a:p>
            <a:pPr>
              <a:lnSpc>
                <a:spcPts val="2616"/>
              </a:lnSpc>
            </a:pPr>
            <a:r>
              <a:rPr lang="en-US" sz="1869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โรงเรียน</a:t>
            </a:r>
            <a:r>
              <a:rPr lang="th-TH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บ้านโพนแท่น </a:t>
            </a:r>
          </a:p>
          <a:p>
            <a:pPr>
              <a:lnSpc>
                <a:spcPts val="2616"/>
              </a:lnSpc>
            </a:pPr>
            <a:r>
              <a:rPr lang="th-TH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สำนักงานเขตพื้นที่การศึกษาประถมศึกษาร้อยเอ็ด เขต </a:t>
            </a:r>
            <a:r>
              <a:rPr lang="en-US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2 </a:t>
            </a:r>
            <a:r>
              <a:rPr lang="en-US" sz="1869" b="1" dirty="0" err="1">
                <a:solidFill>
                  <a:srgbClr val="C00000"/>
                </a:solidFill>
                <a:latin typeface="Anantason Condensed"/>
                <a:cs typeface="Anantason Condensed"/>
              </a:rPr>
              <a:t>ปีการศึกษา</a:t>
            </a:r>
            <a:r>
              <a:rPr lang="en-US" sz="1869" b="1" dirty="0">
                <a:solidFill>
                  <a:srgbClr val="C00000"/>
                </a:solidFill>
                <a:latin typeface="Anantason Condensed"/>
                <a:cs typeface="Anantason Condensed"/>
              </a:rPr>
              <a:t> 2567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74402" y="2071278"/>
            <a:ext cx="6608092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6"/>
              </a:lnSpc>
            </a:pPr>
            <a:r>
              <a:rPr lang="en-US" sz="16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ผลการทดสอบ</a:t>
            </a:r>
            <a:r>
              <a:rPr lang="en-US" sz="16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</a:t>
            </a:r>
            <a:r>
              <a:rPr lang="en-US" sz="16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ปีการศึกษา</a:t>
            </a:r>
            <a:r>
              <a:rPr lang="en-US" sz="16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2565-2567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31735" y="5560456"/>
            <a:ext cx="6450759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4"/>
              </a:lnSpc>
            </a:pPr>
            <a:r>
              <a:rPr lang="en-US" sz="1200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เปรียบเทียบกับคะแนนเฉลี่ยระดับเขตและระดับประเทศ</a:t>
            </a:r>
            <a:r>
              <a:rPr lang="en-US" sz="1200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ปีการศึกษา</a:t>
            </a:r>
            <a:r>
              <a:rPr lang="en-US" sz="1200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2567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49450" y="6934968"/>
            <a:ext cx="4370911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637"/>
              </a:lnSpc>
            </a:pPr>
            <a:r>
              <a:rPr lang="en-US" sz="11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สูงกว่าระดับเขตพื้นที่การศึกษา</a:t>
            </a:r>
            <a:r>
              <a:rPr lang="en-US" sz="11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 + 19.62 </a:t>
            </a:r>
          </a:p>
          <a:p>
            <a:pPr>
              <a:lnSpc>
                <a:spcPts val="1637"/>
              </a:lnSpc>
            </a:pPr>
            <a:r>
              <a:rPr lang="en-US" sz="1169" dirty="0" err="1">
                <a:solidFill>
                  <a:srgbClr val="000000"/>
                </a:solidFill>
                <a:latin typeface="Anantason Condensed Bold"/>
                <a:cs typeface="Anantason Condensed Bold"/>
              </a:rPr>
              <a:t>สูงกว่าระดับประเทศ</a:t>
            </a:r>
            <a:r>
              <a:rPr lang="en-US" sz="11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 + 16.45  </a:t>
            </a:r>
            <a:r>
              <a:rPr lang="th-TH" sz="1169" dirty="0">
                <a:solidFill>
                  <a:srgbClr val="000000"/>
                </a:solidFill>
                <a:latin typeface="Anantason Condensed Bold"/>
                <a:cs typeface="Anantason Condensed Bold"/>
              </a:rPr>
              <a:t>และสูงกว่าทุกระดับ</a:t>
            </a:r>
            <a:endParaRPr lang="en-US" sz="1169" dirty="0">
              <a:solidFill>
                <a:srgbClr val="000000"/>
              </a:solidFill>
              <a:latin typeface="Anantason Condensed Bold"/>
              <a:cs typeface="Anantason Condense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200</Words>
  <Application>Microsoft Office PowerPoint</Application>
  <PresentationFormat>กำหนดเอง</PresentationFormat>
  <Paragraphs>52</Paragraphs>
  <Slides>2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</vt:i4>
      </vt:variant>
    </vt:vector>
  </HeadingPairs>
  <TitlesOfParts>
    <vt:vector size="9" baseType="lpstr">
      <vt:lpstr>Calibri</vt:lpstr>
      <vt:lpstr>Arial</vt:lpstr>
      <vt:lpstr>Anantason Condensed Bold</vt:lpstr>
      <vt:lpstr>Times New Roman</vt:lpstr>
      <vt:lpstr>Cordia New</vt:lpstr>
      <vt:lpstr>Anantason Condensed</vt:lpstr>
      <vt:lpstr>Office Theme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ผลการสอบ</dc:title>
  <dc:creator>admin</dc:creator>
  <cp:lastModifiedBy>admin</cp:lastModifiedBy>
  <cp:revision>13</cp:revision>
  <dcterms:created xsi:type="dcterms:W3CDTF">2006-08-16T00:00:00Z</dcterms:created>
  <dcterms:modified xsi:type="dcterms:W3CDTF">2025-11-25T07:09:57Z</dcterms:modified>
  <dc:identifier>DAFefj6b_O8</dc:identifier>
</cp:coreProperties>
</file>